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59" r:id="rId3"/>
    <p:sldId id="260" r:id="rId4"/>
    <p:sldId id="264" r:id="rId5"/>
    <p:sldId id="271" r:id="rId6"/>
    <p:sldId id="265" r:id="rId7"/>
    <p:sldId id="266" r:id="rId8"/>
    <p:sldId id="267" r:id="rId9"/>
    <p:sldId id="26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23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69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225CE-26DF-414E-B904-CFB1E231009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187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62CE-2747-3564-3105-F324CD68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600E7-4089-82E4-7387-08452F526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39436-5836-EC92-2A3F-CB748BA0E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57795-945F-3327-6DD1-98D06438D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24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5536800"/>
          </a:xfrm>
          <a:prstGeom prst="rect">
            <a:avLst/>
          </a:prstGeom>
          <a:solidFill>
            <a:srgbClr val="1635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텍스트 개체 틀 32"/>
          <p:cNvSpPr>
            <a:spLocks noGrp="1"/>
          </p:cNvSpPr>
          <p:nvPr>
            <p:ph type="body" sz="quarter" idx="10" hasCustomPrompt="1"/>
          </p:nvPr>
        </p:nvSpPr>
        <p:spPr>
          <a:xfrm>
            <a:off x="677571" y="1245592"/>
            <a:ext cx="9694606" cy="7668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PROJECT NAME_TITLE</a:t>
            </a:r>
            <a:endParaRPr lang="ko-KR" altLang="en-US" dirty="0"/>
          </a:p>
        </p:txBody>
      </p:sp>
      <p:sp>
        <p:nvSpPr>
          <p:cNvPr id="36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726412" y="2040270"/>
            <a:ext cx="9694606" cy="427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37" name="텍스트 개체 틀 32"/>
          <p:cNvSpPr>
            <a:spLocks noGrp="1"/>
          </p:cNvSpPr>
          <p:nvPr>
            <p:ph type="body" sz="quarter" idx="12" hasCustomPrompt="1"/>
          </p:nvPr>
        </p:nvSpPr>
        <p:spPr>
          <a:xfrm>
            <a:off x="727267" y="2495973"/>
            <a:ext cx="6322142" cy="26956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u="sng">
                <a:solidFill>
                  <a:srgbClr val="4D973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CREATING A LIST</a:t>
            </a:r>
            <a:endParaRPr lang="ko-KR" altLang="en-US" dirty="0"/>
          </a:p>
        </p:txBody>
      </p:sp>
      <p:pic>
        <p:nvPicPr>
          <p:cNvPr id="38" name="그림 3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0" y="5907679"/>
            <a:ext cx="4871409" cy="579442"/>
          </a:xfrm>
          <a:prstGeom prst="rect">
            <a:avLst/>
          </a:prstGeom>
        </p:spPr>
      </p:pic>
      <p:sp>
        <p:nvSpPr>
          <p:cNvPr id="15" name="제목 1"/>
          <p:cNvSpPr txBox="1">
            <a:spLocks/>
          </p:cNvSpPr>
          <p:nvPr userDrawn="1"/>
        </p:nvSpPr>
        <p:spPr>
          <a:xfrm>
            <a:off x="10226297" y="507054"/>
            <a:ext cx="1386348" cy="21631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bg1"/>
                </a:solidFill>
                <a:latin typeface="HVS2020도전_제목TT B" panose="02020603020101020101" pitchFamily="18" charset="-127"/>
                <a:ea typeface="HVS2020도전_제목TT B" panose="02020603020101020101" pitchFamily="18" charset="-127"/>
                <a:cs typeface="+mj-cs"/>
              </a:defRPr>
            </a:lvl1pPr>
          </a:lstStyle>
          <a:p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www.hyvision.co.kr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213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677571" y="1245592"/>
            <a:ext cx="9694606" cy="1497608"/>
          </a:xfrm>
        </p:spPr>
        <p:txBody>
          <a:bodyPr/>
          <a:lstStyle/>
          <a:p>
            <a:r>
              <a:rPr lang="en-US" altLang="ko-KR" sz="4500" b="1"/>
              <a:t>10</a:t>
            </a:r>
            <a:r>
              <a:rPr lang="ko-KR" altLang="en-US" sz="4500" b="1"/>
              <a:t>월 </a:t>
            </a:r>
            <a:r>
              <a:rPr lang="en-US" altLang="ko-KR" sz="4500" b="1"/>
              <a:t>AI </a:t>
            </a:r>
            <a:r>
              <a:rPr lang="ko-KR" altLang="en-US" sz="4500" b="1"/>
              <a:t>활용 가이드</a:t>
            </a:r>
            <a:endParaRPr lang="en-US" altLang="ko-KR" sz="4000" b="1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572984"/>
              </p:ext>
            </p:extLst>
          </p:nvPr>
        </p:nvGraphicFramePr>
        <p:xfrm>
          <a:off x="8717562" y="4547078"/>
          <a:ext cx="2926475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0476">
                  <a:extLst>
                    <a:ext uri="{9D8B030D-6E8A-4147-A177-3AD203B41FA5}">
                      <a16:colId xmlns:a16="http://schemas.microsoft.com/office/drawing/2014/main" val="1483761456"/>
                    </a:ext>
                  </a:extLst>
                </a:gridCol>
                <a:gridCol w="1985999">
                  <a:extLst>
                    <a:ext uri="{9D8B030D-6E8A-4147-A177-3AD203B41FA5}">
                      <a16:colId xmlns:a16="http://schemas.microsoft.com/office/drawing/2014/main" val="36492864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작성부서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전략기획팀</a:t>
                      </a:r>
                      <a:endParaRPr lang="en-US" altLang="ko-KR" sz="14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0099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2025.10.24</a:t>
                      </a:r>
                      <a:endParaRPr lang="en-US" altLang="ko-KR" sz="14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50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45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805" y="-952805"/>
            <a:ext cx="4762195" cy="4762195"/>
          </a:xfrm>
          <a:prstGeom prst="ellipse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33095" y="418795"/>
            <a:ext cx="5263286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8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엔지니어링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33095" y="1343254"/>
            <a:ext cx="1886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및 주요 요소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5323" y="2251405"/>
            <a:ext cx="28346" cy="666598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9682" y="2954122"/>
            <a:ext cx="4677156" cy="1129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 </a:t>
            </a:r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요소 </a:t>
            </a:r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지시사항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(Instructions): 모델이 수행할 작업에 대한 명확한 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지시 </a:t>
            </a:r>
          </a:p>
          <a:p>
            <a:r>
              <a:rPr lang="en-US" altLang="ko-KR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맥락(Context): 관련 배경 정보와 세부 사항 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</a:t>
            </a:r>
          </a:p>
          <a:p>
            <a:r>
              <a:rPr lang="en-US" altLang="ko-KR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데이터(Input Data): 처리할 구체적 정보나 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</a:t>
            </a:r>
          </a:p>
          <a:p>
            <a:r>
              <a:rPr lang="en-US" altLang="ko-KR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형식(Output Format): 원하는 응답의 구조와 형식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305" y="0"/>
            <a:ext cx="6096305" cy="5486400"/>
          </a:xfrm>
          <a:prstGeom prst="rect">
            <a:avLst/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9695" y="1370686"/>
            <a:ext cx="457200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91195" y="761695"/>
            <a:ext cx="1143000" cy="1143000"/>
          </a:xfrm>
          <a:prstGeom prst="rect">
            <a:avLst/>
          </a:prstGeom>
          <a:solidFill>
            <a:srgbClr val="B9B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810805" y="1143000"/>
            <a:ext cx="761695" cy="76169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3973C65-7974-FBB6-75F5-8D72BA18133C}"/>
              </a:ext>
            </a:extLst>
          </p:cNvPr>
          <p:cNvSpPr txBox="1"/>
          <p:nvPr/>
        </p:nvSpPr>
        <p:spPr>
          <a:xfrm>
            <a:off x="649682" y="2203857"/>
            <a:ext cx="513892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모델에게 최적의 입력(프롬프트)을 제공하여 원하는 결과를 </a:t>
            </a:r>
            <a:r>
              <a:rPr lang="en-US" sz="12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이끌어내는 기술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AI</a:t>
            </a: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효과적으로 대화하는 방법을 연구하고 </a:t>
            </a:r>
            <a:r>
              <a:rPr lang="en-US" sz="12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적용하는 분야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247802"/>
            <a:ext cx="52870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프롬프트 기법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086307"/>
            <a:ext cx="34719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9BA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AI와의 효과적인 소통을 위한 5가지 필수 기법</a:t>
            </a:r>
            <a:endParaRPr lang="en-US" sz="130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79E3CCF4-1A6A-4322-AA73-FE8FC0CB75DC}"/>
              </a:ext>
            </a:extLst>
          </p:cNvPr>
          <p:cNvSpPr/>
          <p:nvPr/>
        </p:nvSpPr>
        <p:spPr>
          <a:xfrm>
            <a:off x="0" y="1574799"/>
            <a:ext cx="12191694" cy="5283199"/>
          </a:xfrm>
          <a:prstGeom prst="rect">
            <a:avLst/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EAB6F00E-F4D3-164E-80A0-7E769BCC5F95}"/>
              </a:ext>
            </a:extLst>
          </p:cNvPr>
          <p:cNvSpPr txBox="1"/>
          <p:nvPr/>
        </p:nvSpPr>
        <p:spPr>
          <a:xfrm>
            <a:off x="1054100" y="2019960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목표 설정</a:t>
            </a:r>
            <a:endParaRPr lang="en-US" sz="150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5FF1516B-04D8-1830-8A7B-84C3F83DED87}"/>
              </a:ext>
            </a:extLst>
          </p:cNvPr>
          <p:cNvSpPr txBox="1"/>
          <p:nvPr/>
        </p:nvSpPr>
        <p:spPr>
          <a:xfrm>
            <a:off x="1054100" y="3607170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 기호 사용</a:t>
            </a:r>
            <a:endParaRPr lang="en-US" sz="15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31BE105C-63D0-EF0F-CA9C-81281F6E205D}"/>
              </a:ext>
            </a:extLst>
          </p:cNvPr>
          <p:cNvSpPr txBox="1"/>
          <p:nvPr/>
        </p:nvSpPr>
        <p:spPr>
          <a:xfrm>
            <a:off x="1092505" y="523981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제공</a:t>
            </a:r>
            <a:endParaRPr lang="en-US" sz="150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FB93C16D-7EB9-5203-96AD-5ACDE1F71A4A}"/>
              </a:ext>
            </a:extLst>
          </p:cNvPr>
          <p:cNvSpPr txBox="1"/>
          <p:nvPr/>
        </p:nvSpPr>
        <p:spPr>
          <a:xfrm>
            <a:off x="7124943" y="2034996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할당</a:t>
            </a:r>
            <a:endParaRPr lang="en-US" sz="1500" dirty="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A9AEE226-8878-66B8-30C6-F18E7C1E8721}"/>
              </a:ext>
            </a:extLst>
          </p:cNvPr>
          <p:cNvSpPr txBox="1"/>
          <p:nvPr/>
        </p:nvSpPr>
        <p:spPr>
          <a:xfrm>
            <a:off x="7124943" y="3527108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지시</a:t>
            </a:r>
            <a:endParaRPr lang="en-US" sz="1500" dirty="0"/>
          </a:p>
        </p:txBody>
      </p:sp>
      <p:sp>
        <p:nvSpPr>
          <p:cNvPr id="79" name="Text 15">
            <a:extLst>
              <a:ext uri="{FF2B5EF4-FFF2-40B4-BE49-F238E27FC236}">
                <a16:creationId xmlns:a16="http://schemas.microsoft.com/office/drawing/2014/main" id="{1A36FD5E-D06F-019C-956F-8FF7962B792B}"/>
              </a:ext>
            </a:extLst>
          </p:cNvPr>
          <p:cNvSpPr txBox="1"/>
          <p:nvPr/>
        </p:nvSpPr>
        <p:spPr>
          <a:xfrm>
            <a:off x="1054100" y="2392121"/>
            <a:ext cx="50165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결과를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명확하게 지시</a:t>
            </a:r>
            <a:r>
              <a:rPr lang="ko-KR" alt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것</a:t>
            </a: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"다음 문장을 번역해주세요"보다 "다음 한국어 문장을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프랑스어로 번역해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주세요“ 가 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효과적입니다.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8735AA4F-66EB-9AD9-04FF-02E9A06C0346}"/>
              </a:ext>
            </a:extLst>
          </p:cNvPr>
          <p:cNvSpPr txBox="1"/>
          <p:nvPr/>
        </p:nvSpPr>
        <p:spPr>
          <a:xfrm>
            <a:off x="1054100" y="3979331"/>
            <a:ext cx="50165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입력의 다양한 부분을 명확히 구분하여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혼란을 방지</a:t>
            </a:r>
            <a:r>
              <a:rPr lang="ko-KR" alt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것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따옴표, 백틱, 대시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별표 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등을 활용할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있</a:t>
            </a:r>
            <a:r>
              <a:rPr lang="ko-KR" alt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"다음 글을 요약해주세요: ```여기에 원본 텍스트가 들어갑니다.```"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79B730EF-6ED4-B7AB-ECED-79AE7F704D1C}"/>
              </a:ext>
            </a:extLst>
          </p:cNvPr>
          <p:cNvSpPr txBox="1"/>
          <p:nvPr/>
        </p:nvSpPr>
        <p:spPr>
          <a:xfrm>
            <a:off x="1092504" y="5611979"/>
            <a:ext cx="461114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출력 형식이나 스타일의 예시를 제공하여 AI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참고</a:t>
            </a:r>
          </a:p>
          <a:p>
            <a:pPr marL="0" indent="0" algn="l">
              <a:buNone/>
            </a:pP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"다음과 같은 형식으로 고객 피드백을 분석해주세요: '피드백: [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내용]’ 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'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분석: [감정][주제]'"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F3349C1A-F60D-4CCF-2DE6-E42F4958C704}"/>
              </a:ext>
            </a:extLst>
          </p:cNvPr>
          <p:cNvSpPr txBox="1"/>
          <p:nvPr/>
        </p:nvSpPr>
        <p:spPr>
          <a:xfrm>
            <a:off x="7124942" y="2406243"/>
            <a:ext cx="487655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특정 역할이나 페르소나를 부여하여 해당 전문가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관점에서 응답 </a:t>
            </a:r>
            <a:r>
              <a:rPr lang="ko-KR" alt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유도</a:t>
            </a: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"데이터 과학자로서, 이 판매 데이터에서 발견할 수 있는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패턴과 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인사이트를 분석해주세요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."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23E1E451-71E4-32C9-C600-8D72F22787E0}"/>
              </a:ext>
            </a:extLst>
          </p:cNvPr>
          <p:cNvSpPr txBox="1"/>
          <p:nvPr/>
        </p:nvSpPr>
        <p:spPr>
          <a:xfrm>
            <a:off x="7124943" y="3898355"/>
            <a:ext cx="4876557" cy="83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작업을 단계별로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나누어 지시. 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 AI가 체계적으로 문제를 해결하는 데 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도움이 </a:t>
            </a:r>
            <a:r>
              <a:rPr lang="ko-KR" alt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될 수 있음</a:t>
            </a: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20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"이 사업 계획을 분석하고, 강점을 파악한 후, 개선 제안을 3</a:t>
            </a: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가지 제시</a:t>
            </a:r>
          </a:p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해주세요</a:t>
            </a:r>
            <a:r>
              <a:rPr lang="en-US" sz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."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4" name="Shape 3">
            <a:extLst>
              <a:ext uri="{FF2B5EF4-FFF2-40B4-BE49-F238E27FC236}">
                <a16:creationId xmlns:a16="http://schemas.microsoft.com/office/drawing/2014/main" id="{2BF08D7B-7EC6-84CE-BB6E-23E8E5036F7C}"/>
              </a:ext>
            </a:extLst>
          </p:cNvPr>
          <p:cNvSpPr/>
          <p:nvPr/>
        </p:nvSpPr>
        <p:spPr>
          <a:xfrm>
            <a:off x="355295" y="1886864"/>
            <a:ext cx="571500" cy="571500"/>
          </a:xfrm>
          <a:prstGeom prst="ellipse">
            <a:avLst/>
          </a:prstGeom>
          <a:solidFill>
            <a:srgbClr val="B9B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8173DE33-1AC7-B075-F3BA-050ECA299A79}"/>
              </a:ext>
            </a:extLst>
          </p:cNvPr>
          <p:cNvSpPr txBox="1"/>
          <p:nvPr/>
        </p:nvSpPr>
        <p:spPr>
          <a:xfrm>
            <a:off x="518058" y="2015795"/>
            <a:ext cx="4050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86" name="Shape 10">
            <a:extLst>
              <a:ext uri="{FF2B5EF4-FFF2-40B4-BE49-F238E27FC236}">
                <a16:creationId xmlns:a16="http://schemas.microsoft.com/office/drawing/2014/main" id="{7E759FE1-7D34-05C9-75DF-200B7A97BCAD}"/>
              </a:ext>
            </a:extLst>
          </p:cNvPr>
          <p:cNvSpPr/>
          <p:nvPr/>
        </p:nvSpPr>
        <p:spPr>
          <a:xfrm>
            <a:off x="351637" y="3453611"/>
            <a:ext cx="571500" cy="571500"/>
          </a:xfrm>
          <a:prstGeom prst="ellipse">
            <a:avLst/>
          </a:prstGeom>
          <a:solidFill>
            <a:srgbClr val="B9B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80A404FB-DAC8-9A1D-6A8F-C630FF829A47}"/>
              </a:ext>
            </a:extLst>
          </p:cNvPr>
          <p:cNvSpPr txBox="1"/>
          <p:nvPr/>
        </p:nvSpPr>
        <p:spPr>
          <a:xfrm>
            <a:off x="514400" y="3581627"/>
            <a:ext cx="4050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88" name="Shape 17">
            <a:extLst>
              <a:ext uri="{FF2B5EF4-FFF2-40B4-BE49-F238E27FC236}">
                <a16:creationId xmlns:a16="http://schemas.microsoft.com/office/drawing/2014/main" id="{CB588D55-52EA-8ADC-716E-26847E57562F}"/>
              </a:ext>
            </a:extLst>
          </p:cNvPr>
          <p:cNvSpPr/>
          <p:nvPr/>
        </p:nvSpPr>
        <p:spPr>
          <a:xfrm>
            <a:off x="351637" y="5100750"/>
            <a:ext cx="571500" cy="571500"/>
          </a:xfrm>
          <a:prstGeom prst="ellipse">
            <a:avLst/>
          </a:prstGeom>
          <a:solidFill>
            <a:srgbClr val="B9B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18">
            <a:extLst>
              <a:ext uri="{FF2B5EF4-FFF2-40B4-BE49-F238E27FC236}">
                <a16:creationId xmlns:a16="http://schemas.microsoft.com/office/drawing/2014/main" id="{1F58E0E3-EA18-7D1A-59F5-68E0B8D08E10}"/>
              </a:ext>
            </a:extLst>
          </p:cNvPr>
          <p:cNvSpPr txBox="1"/>
          <p:nvPr/>
        </p:nvSpPr>
        <p:spPr>
          <a:xfrm>
            <a:off x="514400" y="5229680"/>
            <a:ext cx="4050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92" name="Shape 3">
            <a:extLst>
              <a:ext uri="{FF2B5EF4-FFF2-40B4-BE49-F238E27FC236}">
                <a16:creationId xmlns:a16="http://schemas.microsoft.com/office/drawing/2014/main" id="{76FAE1BD-E6F9-E089-5951-B81ECCF2746E}"/>
              </a:ext>
            </a:extLst>
          </p:cNvPr>
          <p:cNvSpPr/>
          <p:nvPr/>
        </p:nvSpPr>
        <p:spPr>
          <a:xfrm>
            <a:off x="6418056" y="1896845"/>
            <a:ext cx="571500" cy="571500"/>
          </a:xfrm>
          <a:prstGeom prst="ellipse">
            <a:avLst/>
          </a:prstGeom>
          <a:solidFill>
            <a:srgbClr val="B9B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4">
            <a:extLst>
              <a:ext uri="{FF2B5EF4-FFF2-40B4-BE49-F238E27FC236}">
                <a16:creationId xmlns:a16="http://schemas.microsoft.com/office/drawing/2014/main" id="{399B0CB7-ED42-18BC-50C1-9E75741F7CF4}"/>
              </a:ext>
            </a:extLst>
          </p:cNvPr>
          <p:cNvSpPr txBox="1"/>
          <p:nvPr/>
        </p:nvSpPr>
        <p:spPr>
          <a:xfrm>
            <a:off x="6580819" y="2025776"/>
            <a:ext cx="4050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94" name="Shape 10">
            <a:extLst>
              <a:ext uri="{FF2B5EF4-FFF2-40B4-BE49-F238E27FC236}">
                <a16:creationId xmlns:a16="http://schemas.microsoft.com/office/drawing/2014/main" id="{1BDBA566-8F56-5B12-40FB-A7F2EBCF652D}"/>
              </a:ext>
            </a:extLst>
          </p:cNvPr>
          <p:cNvSpPr/>
          <p:nvPr/>
        </p:nvSpPr>
        <p:spPr>
          <a:xfrm>
            <a:off x="6414398" y="3425492"/>
            <a:ext cx="571500" cy="571500"/>
          </a:xfrm>
          <a:prstGeom prst="ellipse">
            <a:avLst/>
          </a:prstGeom>
          <a:solidFill>
            <a:srgbClr val="B9B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11">
            <a:extLst>
              <a:ext uri="{FF2B5EF4-FFF2-40B4-BE49-F238E27FC236}">
                <a16:creationId xmlns:a16="http://schemas.microsoft.com/office/drawing/2014/main" id="{9E7F4321-AC31-2E19-875D-836B34FFE745}"/>
              </a:ext>
            </a:extLst>
          </p:cNvPr>
          <p:cNvSpPr txBox="1"/>
          <p:nvPr/>
        </p:nvSpPr>
        <p:spPr>
          <a:xfrm>
            <a:off x="6577161" y="3553508"/>
            <a:ext cx="4050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591056"/>
          </a:xfrm>
          <a:prstGeom prst="rect">
            <a:avLst/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95351"/>
            <a:ext cx="1095763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프롬프팅 </a:t>
            </a:r>
            <a:r>
              <a:rPr lang="en-US" altLang="ko-KR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CHAIN-OF-THOUGHT </a:t>
            </a: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(COT) 프롬프팅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47902"/>
            <a:ext cx="4091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단계별 사고 과정을 유도하는 고급 프롬프트 기법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6349"/>
            <a:ext cx="5495544" cy="3972154"/>
          </a:xfrm>
          <a:prstGeom prst="roundRect">
            <a:avLst>
              <a:gd name="adj" fmla="val 442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528" r="-1528"/>
          <a:stretch/>
        </p:blipFill>
        <p:spPr>
          <a:xfrm>
            <a:off x="685800" y="2157070"/>
            <a:ext cx="161849" cy="2093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38951" y="1876349"/>
            <a:ext cx="5495544" cy="3972154"/>
          </a:xfrm>
          <a:prstGeom prst="roundRect">
            <a:avLst>
              <a:gd name="adj" fmla="val 442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47649" y="2104949"/>
            <a:ext cx="16907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 개념 및 원리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734556" y="2104949"/>
            <a:ext cx="20153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 프롬프트 작성법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" y="2600554"/>
            <a:ext cx="714146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1452982" y="2600554"/>
            <a:ext cx="714146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220163" y="2600554"/>
            <a:ext cx="819302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61695" y="2619756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사고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529791" y="2619756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추론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2296973" y="2619756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문제해결 과정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2102"/>
            <a:ext cx="507949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Chain-of-Thought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(CoT</a:t>
            </a:r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프롬프팅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AI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복잡한 문제를 단계적으로 생각하고 해결하도록 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유도하는 기법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즉각적인 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대신 중간 사고 과정을 명시적으로 표현하도록 함으로써 AI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추론 능력을 향상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638398"/>
            <a:ext cx="5070348" cy="838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핵심은 "단계별로 생각해봅시다"라는 문구를 추가하여 AI가 </a:t>
            </a:r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</a:t>
            </a:r>
          </a:p>
          <a:p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과정을 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 결론에 도달하도록 </a:t>
            </a:r>
            <a:r>
              <a:rPr lang="en-US" sz="1200" b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안내하는 것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특히 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다단계 계산이 필요한 수학 문제나 복잡한 논리 추론이 </a:t>
            </a: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요구되는 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과제에서 정확도를 크게 높</a:t>
            </a:r>
            <a:r>
              <a:rPr lang="ko-KR" altLang="en-US" sz="120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6467551" y="2157070"/>
            <a:ext cx="267005" cy="20939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657746" y="2572207"/>
            <a:ext cx="4772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제시 :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해결해야 할 문제나 질문을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구체적으로 설명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657746" y="2876702"/>
            <a:ext cx="4963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 유도 문구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 :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"단계별로 생각해봅시다", "천천히 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단계씩 </a:t>
            </a:r>
          </a:p>
          <a:p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생각해봅시다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같은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문구를 추가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657746" y="3409798"/>
            <a:ext cx="4896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: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문제를 풀기 위한 과정을 모두 보여주세요"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</a:t>
            </a:r>
          </a:p>
          <a:p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명확한 지시를 포함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657746" y="3943807"/>
            <a:ext cx="4896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선택적) 예시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 :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문제의 경우, 다른 문제에 대한 단계별 해결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 </a:t>
            </a:r>
          </a:p>
          <a:p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예시를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제공할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있</a:t>
            </a:r>
            <a:r>
              <a:rPr lang="ko-KR" alt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657746" y="4476902"/>
            <a:ext cx="4839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도출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: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"따라서 최종 답은..." 형식으로 명확한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결론을 요청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67551" y="5048402"/>
            <a:ext cx="5038344" cy="571500"/>
          </a:xfrm>
          <a:prstGeom prst="roundRect">
            <a:avLst>
              <a:gd name="adj" fmla="val 16000"/>
            </a:avLst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62649" y="5257800"/>
            <a:ext cx="152705" cy="1527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733110" y="5205646"/>
            <a:ext cx="46817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 프롬프팅은 모델의 크기가 클수록 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효과적</a:t>
            </a:r>
            <a:r>
              <a:rPr lang="ko-KR" alt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75DF-A114-CE43-14B7-D883F4B1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2F3771-49D7-E685-8C57-11043382DED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6D136C-108A-5C36-FA99-C85C72D8CA05}"/>
              </a:ext>
            </a:extLst>
          </p:cNvPr>
          <p:cNvSpPr/>
          <p:nvPr/>
        </p:nvSpPr>
        <p:spPr>
          <a:xfrm>
            <a:off x="0" y="0"/>
            <a:ext cx="12191695" cy="1591056"/>
          </a:xfrm>
          <a:prstGeom prst="rect">
            <a:avLst/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39E4C0-B80B-762C-7656-A15D6724CDB0}"/>
              </a:ext>
            </a:extLst>
          </p:cNvPr>
          <p:cNvSpPr txBox="1"/>
          <p:nvPr/>
        </p:nvSpPr>
        <p:spPr>
          <a:xfrm>
            <a:off x="457199" y="295351"/>
            <a:ext cx="11277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프롬프팅 </a:t>
            </a:r>
            <a:r>
              <a:rPr lang="en-US" altLang="ko-KR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CHAIN-OF-THOUGHT (COT) 프롬프팅</a:t>
            </a:r>
            <a:endParaRPr lang="en-US" altLang="ko-KR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D2E62C-D9A8-EA55-F42A-B6C802884E26}"/>
              </a:ext>
            </a:extLst>
          </p:cNvPr>
          <p:cNvSpPr txBox="1"/>
          <p:nvPr/>
        </p:nvSpPr>
        <p:spPr>
          <a:xfrm>
            <a:off x="457200" y="1047902"/>
            <a:ext cx="4091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단계별 사고 과정을 유도하는 고급 프롬프트 기법</a:t>
            </a:r>
            <a:endParaRPr lang="en-US" sz="13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C7D20CB-8E64-55E9-AA79-F9F0BE5562C1}"/>
              </a:ext>
            </a:extLst>
          </p:cNvPr>
          <p:cNvSpPr/>
          <p:nvPr/>
        </p:nvSpPr>
        <p:spPr>
          <a:xfrm>
            <a:off x="457200" y="1850499"/>
            <a:ext cx="5495544" cy="4657954"/>
          </a:xfrm>
          <a:prstGeom prst="roundRect">
            <a:avLst>
              <a:gd name="adj" fmla="val 32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8E0793D-E67B-79A6-CF09-22135558084B}"/>
              </a:ext>
            </a:extLst>
          </p:cNvPr>
          <p:cNvSpPr/>
          <p:nvPr/>
        </p:nvSpPr>
        <p:spPr>
          <a:xfrm>
            <a:off x="6238951" y="1850499"/>
            <a:ext cx="5495544" cy="4657954"/>
          </a:xfrm>
          <a:prstGeom prst="roundRect">
            <a:avLst>
              <a:gd name="adj" fmla="val 32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45889C-89A8-5AAE-3DD6-B9F8E4510A03}"/>
              </a:ext>
            </a:extLst>
          </p:cNvPr>
          <p:cNvSpPr txBox="1"/>
          <p:nvPr/>
        </p:nvSpPr>
        <p:spPr>
          <a:xfrm>
            <a:off x="895198" y="2079099"/>
            <a:ext cx="99578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예시</a:t>
            </a:r>
            <a:endParaRPr lang="en-US" sz="1600" dirty="0"/>
          </a:p>
        </p:txBody>
      </p:sp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7F3001D2-94D8-99BF-8B12-83A3FF806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132134"/>
            <a:ext cx="209398" cy="209398"/>
          </a:xfrm>
          <a:prstGeom prst="rect">
            <a:avLst/>
          </a:prstGeom>
        </p:spPr>
      </p:pic>
      <p:sp>
        <p:nvSpPr>
          <p:cNvPr id="32" name="Text 26">
            <a:extLst>
              <a:ext uri="{FF2B5EF4-FFF2-40B4-BE49-F238E27FC236}">
                <a16:creationId xmlns:a16="http://schemas.microsoft.com/office/drawing/2014/main" id="{4841660D-7FC0-50FA-239B-60D622DA3974}"/>
              </a:ext>
            </a:extLst>
          </p:cNvPr>
          <p:cNvSpPr txBox="1"/>
          <p:nvPr/>
        </p:nvSpPr>
        <p:spPr>
          <a:xfrm>
            <a:off x="6676949" y="2079099"/>
            <a:ext cx="16907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시기 및 장점</a:t>
            </a:r>
            <a:endParaRPr lang="en-US" sz="16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5C90BBDE-4C2B-D34A-D8CD-61B4A35036D5}"/>
              </a:ext>
            </a:extLst>
          </p:cNvPr>
          <p:cNvSpPr/>
          <p:nvPr/>
        </p:nvSpPr>
        <p:spPr>
          <a:xfrm>
            <a:off x="685800" y="2546358"/>
            <a:ext cx="5038344" cy="3733495"/>
          </a:xfrm>
          <a:prstGeom prst="rect">
            <a:avLst/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79CC737F-869D-7307-E06F-28A8F26886FB}"/>
              </a:ext>
            </a:extLst>
          </p:cNvPr>
          <p:cNvSpPr/>
          <p:nvPr/>
        </p:nvSpPr>
        <p:spPr>
          <a:xfrm>
            <a:off x="685800" y="2546358"/>
            <a:ext cx="38405" cy="3733495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71819778-8EC5-8636-72E0-AA8E57F2E557}"/>
              </a:ext>
            </a:extLst>
          </p:cNvPr>
          <p:cNvSpPr txBox="1"/>
          <p:nvPr/>
        </p:nvSpPr>
        <p:spPr>
          <a:xfrm>
            <a:off x="875995" y="2698148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프롬프트:</a:t>
            </a:r>
            <a:endParaRPr lang="en-US" sz="12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04165C2D-8BAF-77F3-149D-A22BA718B28E}"/>
              </a:ext>
            </a:extLst>
          </p:cNvPr>
          <p:cNvSpPr txBox="1"/>
          <p:nvPr/>
        </p:nvSpPr>
        <p:spPr>
          <a:xfrm>
            <a:off x="875995" y="3383948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 프롬프트:</a:t>
            </a:r>
            <a:endParaRPr lang="en-US" sz="120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41087709-5B96-428D-F829-367C8BB4C57A}"/>
              </a:ext>
            </a:extLst>
          </p:cNvPr>
          <p:cNvSpPr txBox="1"/>
          <p:nvPr/>
        </p:nvSpPr>
        <p:spPr>
          <a:xfrm>
            <a:off x="875995" y="4069748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응답:</a:t>
            </a:r>
            <a:endParaRPr lang="en-US" sz="12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C06528E5-3F13-3CE9-7997-554EDDDCE05F}"/>
              </a:ext>
            </a:extLst>
          </p:cNvPr>
          <p:cNvSpPr txBox="1"/>
          <p:nvPr/>
        </p:nvSpPr>
        <p:spPr>
          <a:xfrm>
            <a:off x="875995" y="2926748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"사과 한 개가 1,500원이고 배 한 개가 사과 두 개의 가격입니다. 사과 2개와 배 3개를 사면 총 얼마를 지불해야 하나요?"</a:t>
            </a:r>
            <a:endParaRPr lang="en-US" sz="12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DEA8CCB1-9EF1-F5E7-1AAA-30915F917DA3}"/>
              </a:ext>
            </a:extLst>
          </p:cNvPr>
          <p:cNvSpPr txBox="1"/>
          <p:nvPr/>
        </p:nvSpPr>
        <p:spPr>
          <a:xfrm>
            <a:off x="875995" y="3612548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"사과 한 개가 1,500원이고 배 한 개가 사과 두 개의 가격입니다. 사과 2개와 배 3개를 사면 총 얼마를 지불해야 하나요? 단계별로 생각해봅시다."</a:t>
            </a:r>
            <a:endParaRPr lang="en-US" sz="12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490E1B89-B851-9193-66F3-2CD99F713920}"/>
              </a:ext>
            </a:extLst>
          </p:cNvPr>
          <p:cNvSpPr txBox="1"/>
          <p:nvPr/>
        </p:nvSpPr>
        <p:spPr>
          <a:xfrm>
            <a:off x="875995" y="4298348"/>
            <a:ext cx="1962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"단계별로 생각해보겠습니다:</a:t>
            </a:r>
            <a:endParaRPr lang="en-US" sz="1200" dirty="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538A9037-558A-836F-2EF5-264F03CBF167}"/>
              </a:ext>
            </a:extLst>
          </p:cNvPr>
          <p:cNvSpPr txBox="1"/>
          <p:nvPr/>
        </p:nvSpPr>
        <p:spPr>
          <a:xfrm>
            <a:off x="875995" y="4526948"/>
            <a:ext cx="256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사과 한 개의 가격은 1,500원입니다.</a:t>
            </a:r>
            <a:endParaRPr lang="en-US" sz="1200" dirty="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C87542FF-7640-3ADD-44BA-57AA54239657}"/>
              </a:ext>
            </a:extLst>
          </p:cNvPr>
          <p:cNvSpPr txBox="1"/>
          <p:nvPr/>
        </p:nvSpPr>
        <p:spPr>
          <a:xfrm>
            <a:off x="875995" y="4755548"/>
            <a:ext cx="4772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배 한 개의 가격은 사과 두 개의 가격과 같으므로, 배 한 개 = 1,500원 × 2 = 3,000원입니다.</a:t>
            </a:r>
            <a:endParaRPr lang="en-US" sz="1200" dirty="0"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8FB80DE6-3BA7-93A4-26A4-BBA0979842DB}"/>
              </a:ext>
            </a:extLst>
          </p:cNvPr>
          <p:cNvSpPr txBox="1"/>
          <p:nvPr/>
        </p:nvSpPr>
        <p:spPr>
          <a:xfrm>
            <a:off x="875995" y="5212748"/>
            <a:ext cx="3477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사과 2개의 가격은 1,500원 × 2 = 3,000원입니다.</a:t>
            </a:r>
            <a:endParaRPr lang="en-US" sz="1200" dirty="0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46C4D6D9-FF0F-0586-38E1-DC682B37A615}"/>
              </a:ext>
            </a:extLst>
          </p:cNvPr>
          <p:cNvSpPr txBox="1"/>
          <p:nvPr/>
        </p:nvSpPr>
        <p:spPr>
          <a:xfrm>
            <a:off x="875995" y="5441348"/>
            <a:ext cx="3343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배 3개의 가격은 3,000원 × 3 = 9,000원입니다.</a:t>
            </a:r>
            <a:endParaRPr lang="en-US" sz="12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C616A92D-E2C4-8BAA-92B0-172CB87A1B6D}"/>
              </a:ext>
            </a:extLst>
          </p:cNvPr>
          <p:cNvSpPr txBox="1"/>
          <p:nvPr/>
        </p:nvSpPr>
        <p:spPr>
          <a:xfrm>
            <a:off x="875995" y="5669948"/>
            <a:ext cx="4705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따라서 사과 2개와 배 3개의 총 가격은 3,000원 + 9,000원 = 12,000원입니다."</a:t>
            </a:r>
            <a:endParaRPr lang="en-US" sz="1200" dirty="0"/>
          </a:p>
        </p:txBody>
      </p:sp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6BA49231-F232-18A2-0E08-F97242E4BD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7551" y="2132134"/>
            <a:ext cx="209398" cy="209398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17950507-3B98-C525-6A45-43EACF02C5F5}"/>
              </a:ext>
            </a:extLst>
          </p:cNvPr>
          <p:cNvSpPr txBox="1"/>
          <p:nvPr/>
        </p:nvSpPr>
        <p:spPr>
          <a:xfrm>
            <a:off x="6467551" y="2555502"/>
            <a:ext cx="35368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다음과 같은 상황에서 CoT 프롬프팅이 특히 효과적입니다:</a:t>
            </a:r>
            <a:endParaRPr lang="en-US" sz="1100" dirty="0"/>
          </a:p>
        </p:txBody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4652E2BB-4617-9565-024A-6AED7FB9AFA0}"/>
              </a:ext>
            </a:extLst>
          </p:cNvPr>
          <p:cNvSpPr/>
          <p:nvPr/>
        </p:nvSpPr>
        <p:spPr>
          <a:xfrm>
            <a:off x="6467551" y="2926748"/>
            <a:ext cx="2467051" cy="418795"/>
          </a:xfrm>
          <a:prstGeom prst="roundRect">
            <a:avLst>
              <a:gd name="adj" fmla="val 29774"/>
            </a:avLst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5" descr="preencoded.png">
            <a:extLst>
              <a:ext uri="{FF2B5EF4-FFF2-40B4-BE49-F238E27FC236}">
                <a16:creationId xmlns:a16="http://schemas.microsoft.com/office/drawing/2014/main" id="{7D4BAD57-4238-3969-3626-3DED8F2947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6562649" y="3060250"/>
            <a:ext cx="114300" cy="152705"/>
          </a:xfrm>
          <a:prstGeom prst="rect">
            <a:avLst/>
          </a:prstGeom>
        </p:spPr>
      </p:pic>
      <p:sp>
        <p:nvSpPr>
          <p:cNvPr id="50" name="Shape 42">
            <a:extLst>
              <a:ext uri="{FF2B5EF4-FFF2-40B4-BE49-F238E27FC236}">
                <a16:creationId xmlns:a16="http://schemas.microsoft.com/office/drawing/2014/main" id="{EDEB61E5-84AF-F032-A736-F84AE1141741}"/>
              </a:ext>
            </a:extLst>
          </p:cNvPr>
          <p:cNvSpPr/>
          <p:nvPr/>
        </p:nvSpPr>
        <p:spPr>
          <a:xfrm>
            <a:off x="9044330" y="2926748"/>
            <a:ext cx="2467051" cy="418795"/>
          </a:xfrm>
          <a:prstGeom prst="roundRect">
            <a:avLst>
              <a:gd name="adj" fmla="val 29774"/>
            </a:avLst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11F8FBC7-4512-6F47-0AA7-54110DCBFAC8}"/>
              </a:ext>
            </a:extLst>
          </p:cNvPr>
          <p:cNvSpPr txBox="1"/>
          <p:nvPr/>
        </p:nvSpPr>
        <p:spPr>
          <a:xfrm>
            <a:off x="6776009" y="3022760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 문제 및 계산 작업</a:t>
            </a:r>
            <a:endParaRPr lang="en-US" sz="1200" dirty="0"/>
          </a:p>
        </p:txBody>
      </p:sp>
      <p:pic>
        <p:nvPicPr>
          <p:cNvPr id="52" name="Image 6" descr="preencoded.png">
            <a:extLst>
              <a:ext uri="{FF2B5EF4-FFF2-40B4-BE49-F238E27FC236}">
                <a16:creationId xmlns:a16="http://schemas.microsoft.com/office/drawing/2014/main" id="{86F2A994-0C51-459D-4E34-D0D34B0F78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39428" y="3060250"/>
            <a:ext cx="152705" cy="152705"/>
          </a:xfrm>
          <a:prstGeom prst="rect">
            <a:avLst/>
          </a:prstGeom>
        </p:spPr>
      </p:pic>
      <p:sp>
        <p:nvSpPr>
          <p:cNvPr id="53" name="Shape 44">
            <a:extLst>
              <a:ext uri="{FF2B5EF4-FFF2-40B4-BE49-F238E27FC236}">
                <a16:creationId xmlns:a16="http://schemas.microsoft.com/office/drawing/2014/main" id="{669DA8F9-24D6-8369-BF5E-1B1EE95CB556}"/>
              </a:ext>
            </a:extLst>
          </p:cNvPr>
          <p:cNvSpPr/>
          <p:nvPr/>
        </p:nvSpPr>
        <p:spPr>
          <a:xfrm>
            <a:off x="6467551" y="3460758"/>
            <a:ext cx="2467051" cy="418795"/>
          </a:xfrm>
          <a:prstGeom prst="roundRect">
            <a:avLst>
              <a:gd name="adj" fmla="val 29774"/>
            </a:avLst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5">
            <a:extLst>
              <a:ext uri="{FF2B5EF4-FFF2-40B4-BE49-F238E27FC236}">
                <a16:creationId xmlns:a16="http://schemas.microsoft.com/office/drawing/2014/main" id="{B2328656-91C5-3D49-F89D-DBDA140C63CD}"/>
              </a:ext>
            </a:extLst>
          </p:cNvPr>
          <p:cNvSpPr txBox="1"/>
          <p:nvPr/>
        </p:nvSpPr>
        <p:spPr>
          <a:xfrm>
            <a:off x="9390278" y="302276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논리 퍼즐 해결</a:t>
            </a:r>
            <a:endParaRPr lang="en-US" sz="1200" dirty="0"/>
          </a:p>
        </p:txBody>
      </p:sp>
      <p:pic>
        <p:nvPicPr>
          <p:cNvPr id="55" name="Image 7" descr="preencoded.png">
            <a:extLst>
              <a:ext uri="{FF2B5EF4-FFF2-40B4-BE49-F238E27FC236}">
                <a16:creationId xmlns:a16="http://schemas.microsoft.com/office/drawing/2014/main" id="{815339F1-2D40-A582-9A29-B1F00CE463B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6562649" y="3594260"/>
            <a:ext cx="190195" cy="152705"/>
          </a:xfrm>
          <a:prstGeom prst="rect">
            <a:avLst/>
          </a:prstGeom>
        </p:spPr>
      </p:pic>
      <p:sp>
        <p:nvSpPr>
          <p:cNvPr id="56" name="Shape 46">
            <a:extLst>
              <a:ext uri="{FF2B5EF4-FFF2-40B4-BE49-F238E27FC236}">
                <a16:creationId xmlns:a16="http://schemas.microsoft.com/office/drawing/2014/main" id="{EC92732E-E4C9-7324-4576-247FD73E86D4}"/>
              </a:ext>
            </a:extLst>
          </p:cNvPr>
          <p:cNvSpPr/>
          <p:nvPr/>
        </p:nvSpPr>
        <p:spPr>
          <a:xfrm>
            <a:off x="9044330" y="3460758"/>
            <a:ext cx="2467051" cy="418795"/>
          </a:xfrm>
          <a:prstGeom prst="roundRect">
            <a:avLst>
              <a:gd name="adj" fmla="val 29774"/>
            </a:avLst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7">
            <a:extLst>
              <a:ext uri="{FF2B5EF4-FFF2-40B4-BE49-F238E27FC236}">
                <a16:creationId xmlns:a16="http://schemas.microsoft.com/office/drawing/2014/main" id="{D36F5157-B7E0-54D3-9BB5-A588D2EAF9B8}"/>
              </a:ext>
            </a:extLst>
          </p:cNvPr>
          <p:cNvSpPr txBox="1"/>
          <p:nvPr/>
        </p:nvSpPr>
        <p:spPr>
          <a:xfrm>
            <a:off x="6851904" y="3555855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요소 의사결정</a:t>
            </a:r>
            <a:endParaRPr lang="en-US" sz="1200" dirty="0"/>
          </a:p>
        </p:txBody>
      </p:sp>
      <p:pic>
        <p:nvPicPr>
          <p:cNvPr id="58" name="Image 8" descr="preencoded.png">
            <a:extLst>
              <a:ext uri="{FF2B5EF4-FFF2-40B4-BE49-F238E27FC236}">
                <a16:creationId xmlns:a16="http://schemas.microsoft.com/office/drawing/2014/main" id="{7E4D3EF8-1437-5414-C6C8-F4D495C4F48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9139428" y="3594260"/>
            <a:ext cx="133502" cy="152705"/>
          </a:xfrm>
          <a:prstGeom prst="rect">
            <a:avLst/>
          </a:prstGeom>
        </p:spPr>
      </p:pic>
      <p:sp>
        <p:nvSpPr>
          <p:cNvPr id="59" name="Text 48">
            <a:extLst>
              <a:ext uri="{FF2B5EF4-FFF2-40B4-BE49-F238E27FC236}">
                <a16:creationId xmlns:a16="http://schemas.microsoft.com/office/drawing/2014/main" id="{2C13C965-510B-B781-7FB9-AD564B8FCC22}"/>
              </a:ext>
            </a:extLst>
          </p:cNvPr>
          <p:cNvSpPr txBox="1"/>
          <p:nvPr/>
        </p:nvSpPr>
        <p:spPr>
          <a:xfrm>
            <a:off x="9371990" y="355585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추론이 필요한 작업</a:t>
            </a:r>
            <a:endParaRPr lang="en-US" sz="1200" dirty="0"/>
          </a:p>
        </p:txBody>
      </p:sp>
      <p:sp>
        <p:nvSpPr>
          <p:cNvPr id="60" name="Text 49">
            <a:extLst>
              <a:ext uri="{FF2B5EF4-FFF2-40B4-BE49-F238E27FC236}">
                <a16:creationId xmlns:a16="http://schemas.microsoft.com/office/drawing/2014/main" id="{0A845EA8-9906-3B99-BCE0-514338E92AE9}"/>
              </a:ext>
            </a:extLst>
          </p:cNvPr>
          <p:cNvSpPr txBox="1"/>
          <p:nvPr/>
        </p:nvSpPr>
        <p:spPr>
          <a:xfrm>
            <a:off x="6467551" y="4032258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장점:</a:t>
            </a:r>
            <a:endParaRPr lang="en-US" sz="1200" dirty="0"/>
          </a:p>
        </p:txBody>
      </p:sp>
      <p:sp>
        <p:nvSpPr>
          <p:cNvPr id="61" name="Text 50">
            <a:extLst>
              <a:ext uri="{FF2B5EF4-FFF2-40B4-BE49-F238E27FC236}">
                <a16:creationId xmlns:a16="http://schemas.microsoft.com/office/drawing/2014/main" id="{5EFFB12B-BE5C-B305-D843-74EB9854CA53}"/>
              </a:ext>
            </a:extLst>
          </p:cNvPr>
          <p:cNvSpPr txBox="1"/>
          <p:nvPr/>
        </p:nvSpPr>
        <p:spPr>
          <a:xfrm>
            <a:off x="6497726" y="4336753"/>
            <a:ext cx="35368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문제에서 정확도 향상 (최대 20-40% 개선)</a:t>
            </a:r>
            <a:endParaRPr lang="en-US" sz="1200" dirty="0"/>
          </a:p>
        </p:txBody>
      </p:sp>
      <p:sp>
        <p:nvSpPr>
          <p:cNvPr id="62" name="Text 51">
            <a:extLst>
              <a:ext uri="{FF2B5EF4-FFF2-40B4-BE49-F238E27FC236}">
                <a16:creationId xmlns:a16="http://schemas.microsoft.com/office/drawing/2014/main" id="{A2D5887C-F351-9C7F-9936-86476F5968CF}"/>
              </a:ext>
            </a:extLst>
          </p:cNvPr>
          <p:cNvSpPr txBox="1"/>
          <p:nvPr/>
        </p:nvSpPr>
        <p:spPr>
          <a:xfrm>
            <a:off x="6497726" y="4641248"/>
            <a:ext cx="263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사고 과정을 투명하게 확인 가능</a:t>
            </a:r>
            <a:endParaRPr lang="en-US" sz="1200" dirty="0"/>
          </a:p>
        </p:txBody>
      </p:sp>
      <p:sp>
        <p:nvSpPr>
          <p:cNvPr id="63" name="Text 52">
            <a:extLst>
              <a:ext uri="{FF2B5EF4-FFF2-40B4-BE49-F238E27FC236}">
                <a16:creationId xmlns:a16="http://schemas.microsoft.com/office/drawing/2014/main" id="{7E8ADE47-7165-4C18-8109-F30C7FAA559F}"/>
              </a:ext>
            </a:extLst>
          </p:cNvPr>
          <p:cNvSpPr txBox="1"/>
          <p:nvPr/>
        </p:nvSpPr>
        <p:spPr>
          <a:xfrm>
            <a:off x="6497726" y="4946658"/>
            <a:ext cx="3040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과정에서 오류 발견 및 수정 용이</a:t>
            </a:r>
            <a:endParaRPr lang="en-US" sz="1200" dirty="0"/>
          </a:p>
        </p:txBody>
      </p:sp>
      <p:sp>
        <p:nvSpPr>
          <p:cNvPr id="64" name="Text 53">
            <a:extLst>
              <a:ext uri="{FF2B5EF4-FFF2-40B4-BE49-F238E27FC236}">
                <a16:creationId xmlns:a16="http://schemas.microsoft.com/office/drawing/2014/main" id="{3FDE5EC0-848B-1217-C9AE-BA7E0CE94FD3}"/>
              </a:ext>
            </a:extLst>
          </p:cNvPr>
          <p:cNvSpPr txBox="1"/>
          <p:nvPr/>
        </p:nvSpPr>
        <p:spPr>
          <a:xfrm>
            <a:off x="6497726" y="5251153"/>
            <a:ext cx="263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응답의 신뢰성과 설명 가능성 증가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12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190195"/>
            <a:ext cx="916777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프롬프</a:t>
            </a:r>
            <a:r>
              <a:rPr lang="ko-KR" alt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팅</a:t>
            </a:r>
            <a:r>
              <a:rPr 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ko-KR" alt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제로샷 </a:t>
            </a:r>
            <a:r>
              <a:rPr lang="en-US" altLang="ko-KR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</a:t>
            </a:r>
            <a:r>
              <a:rPr lang="ko-KR" alt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퓨샷 프롬프팅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966216"/>
            <a:ext cx="2948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9BA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제로샷 vs 퓨샷 프롬프팅 상세 가이드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470356"/>
            <a:ext cx="5447995" cy="5197450"/>
          </a:xfrm>
          <a:prstGeom prst="roundRect">
            <a:avLst>
              <a:gd name="adj" fmla="val 235"/>
            </a:avLst>
          </a:prstGeom>
          <a:solidFill>
            <a:srgbClr val="FFFFFF"/>
          </a:solidFill>
          <a:ln w="12700">
            <a:solidFill>
              <a:srgbClr val="B9BAB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694944" y="1746504"/>
            <a:ext cx="237744" cy="2670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86500" y="1470355"/>
            <a:ext cx="5447995" cy="5237683"/>
          </a:xfrm>
          <a:prstGeom prst="roundRect">
            <a:avLst>
              <a:gd name="adj" fmla="val 235"/>
            </a:avLst>
          </a:prstGeom>
          <a:solidFill>
            <a:srgbClr val="FFFFFF"/>
          </a:solidFill>
          <a:ln w="12700">
            <a:solidFill>
              <a:srgbClr val="B9BAB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933602" y="1709014"/>
            <a:ext cx="3029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제로샷 프롬프팅 (Zero-shot)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829654" y="1709014"/>
            <a:ext cx="2772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퓨샷 프롬프팅 (Few-shot)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94944" y="2194560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357884" y="2194560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019910" y="2194560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524244" y="2194560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187184" y="2194560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849210" y="2194560"/>
            <a:ext cx="714146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71754" y="221376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없음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433779" y="221376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지시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2095805" y="221376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적용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601054" y="221376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포함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7263079" y="221376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학습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7925105" y="221376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정확도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94944" y="255666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기법 개요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94944" y="341345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94944" y="4549741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524244" y="255666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기법 개요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524244" y="334737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524244" y="4536931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694944" y="2861158"/>
            <a:ext cx="496793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</a:t>
            </a: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없이 AI 모델에게 직접 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지시하는 방법</a:t>
            </a:r>
          </a:p>
          <a:p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 </a:t>
            </a: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이미 작업을 이해하고 있거나 질문이 단순할 때 효과적이며, 빠른 결과가 </a:t>
            </a:r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</a:t>
            </a:r>
          </a:p>
          <a:p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상황에 적합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6524244" y="2861158"/>
            <a:ext cx="5210251" cy="402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b="1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</a:t>
            </a: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가지 입출력 예시를 제공하여 모델이 작업의 패턴을 인식하고 따르도록 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방법</a:t>
            </a:r>
          </a:p>
          <a:p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</a:t>
            </a: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형식이나 스타일이 필요하거나, 복잡한 작업에 대해 더 정확한 결과를 얻고자 할 </a:t>
            </a:r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 효과적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94944" y="3708806"/>
            <a:ext cx="3348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지시: 모델에게 수행해야 할 작업을 직접적으로 지시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694944" y="3952951"/>
            <a:ext cx="2738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요청: 필요한 출력 형식이 있다면 명시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94944" y="4197096"/>
            <a:ext cx="3139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생성: 모델이 기존 지식을 바탕으로 즉시 답변 생성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6524244" y="3642729"/>
            <a:ext cx="3215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제공: 입력과 원하는 출력 형식의 예시를 2-5개 제공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524244" y="3886874"/>
            <a:ext cx="3386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인식: 모델이 예시를 통해 작업의 패턴과 스타일을 파악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6524244" y="4130104"/>
            <a:ext cx="3948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입력에 적용: 학습된 패턴을 바탕으로 새로운 입력에 대한 결과 생성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94944" y="4807373"/>
            <a:ext cx="4972507" cy="1017727"/>
          </a:xfrm>
          <a:prstGeom prst="rect">
            <a:avLst/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8"/>
          <p:cNvSpPr/>
          <p:nvPr/>
        </p:nvSpPr>
        <p:spPr>
          <a:xfrm>
            <a:off x="694944" y="4807373"/>
            <a:ext cx="28346" cy="1018800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9"/>
          <p:cNvSpPr/>
          <p:nvPr/>
        </p:nvSpPr>
        <p:spPr>
          <a:xfrm>
            <a:off x="6524244" y="4793649"/>
            <a:ext cx="4972507" cy="1162202"/>
          </a:xfrm>
          <a:prstGeom prst="rect">
            <a:avLst/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0"/>
          <p:cNvSpPr/>
          <p:nvPr/>
        </p:nvSpPr>
        <p:spPr>
          <a:xfrm>
            <a:off x="6524244" y="4793649"/>
            <a:ext cx="28346" cy="1162202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1"/>
          <p:cNvSpPr txBox="1"/>
          <p:nvPr/>
        </p:nvSpPr>
        <p:spPr>
          <a:xfrm>
            <a:off x="838505" y="491161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프롬프트: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838505" y="5329267"/>
            <a:ext cx="557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응답: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6667805" y="489880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프롬프트: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838505" y="4911615"/>
            <a:ext cx="47960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>
              <a:solidFill>
                <a:srgbClr val="3B4D54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문장이 긍정적인지, 부정적인지, 중립적인지 분류해주세요: '오늘 날씨가 정말 좋네요.'"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838505" y="5329267"/>
            <a:ext cx="46817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>
              <a:solidFill>
                <a:srgbClr val="3B4D54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긍정적입니다. '정말 좋네요'라는 표현이 긍정적인 감정을 나타내고 있습니다."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6667805" y="5085342"/>
            <a:ext cx="2376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"입력: '오늘 날씨가 좋아요.' 분류: 긍정적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6667805" y="5271880"/>
            <a:ext cx="2719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입력: '이 영화는 정말 지루했어요.' 분류: 부정적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6667805" y="5458417"/>
            <a:ext cx="2872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입력: '버스가 10분 후에 도착합니다.' 분류: 중립적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6667805" y="5644955"/>
            <a:ext cx="2729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입력: '이 상품은 기대 이상이었습니다.' 분류: ?"</a:t>
            </a:r>
            <a:endParaRPr lang="en-US" sz="1000" dirty="0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6524244" y="1746504"/>
            <a:ext cx="304495" cy="267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978916"/>
            <a:ext cx="4043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9BAB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일관성 &amp; TREE-OF-THOUGHTS 상세 가이드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470355"/>
            <a:ext cx="5447995" cy="5282870"/>
          </a:xfrm>
          <a:prstGeom prst="roundRect">
            <a:avLst>
              <a:gd name="adj" fmla="val 235"/>
            </a:avLst>
          </a:prstGeom>
          <a:solidFill>
            <a:srgbClr val="FFFFFF"/>
          </a:solidFill>
          <a:ln w="12700">
            <a:solidFill>
              <a:srgbClr val="B9BAB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746504"/>
            <a:ext cx="267005" cy="2670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86500" y="1470355"/>
            <a:ext cx="5447995" cy="5282870"/>
          </a:xfrm>
          <a:prstGeom prst="roundRect">
            <a:avLst>
              <a:gd name="adj" fmla="val 235"/>
            </a:avLst>
          </a:prstGeom>
          <a:solidFill>
            <a:srgbClr val="FFFFFF"/>
          </a:solidFill>
          <a:ln w="12700">
            <a:solidFill>
              <a:srgbClr val="B9BAB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038149" y="1709014"/>
            <a:ext cx="3877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일관성 기법 (Self-Consistency)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905854" y="1709014"/>
            <a:ext cx="34582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Tree-of-Thoughts (ToT) 방법론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94944" y="2194560"/>
            <a:ext cx="714146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463040" y="2194560"/>
            <a:ext cx="847649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367382" y="2194560"/>
            <a:ext cx="714146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524244" y="2194560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187184" y="2194560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849210" y="2194560"/>
            <a:ext cx="714146" cy="209398"/>
          </a:xfrm>
          <a:prstGeom prst="roundRect">
            <a:avLst>
              <a:gd name="adj" fmla="val 238189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71754" y="221376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추론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538935" y="221376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해결 경로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2443277" y="221376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일관성 평가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601054" y="221376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구조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7263079" y="221376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탐색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7925105" y="221376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사고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94944" y="255666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기법 개요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94944" y="3613709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단계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94944" y="4954829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524244" y="255666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기법 개요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524244" y="3613709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특징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524244" y="501152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8D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694944" y="2861158"/>
            <a:ext cx="504383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에게 동일한 문제에 대해 여러 가지 접근 방식으로 해결해보도록 한 후, 가장 일관된 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</a:t>
            </a:r>
          </a:p>
          <a:p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선택하는 방법</a:t>
            </a:r>
          </a:p>
          <a:p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</a:t>
            </a:r>
            <a:r>
              <a:rPr lang="en-US" altLang="ko-KR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수학적 문제 해결, 복잡한 논리적 추론, 여러 가지 가능성 검토가 필요한 상황에 특히 효과적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524244" y="2861158"/>
            <a:ext cx="506303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Chain-of-Thought </a:t>
            </a: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프롬프팅을 확장한 개념으로, 다양한 사고 경로를 탐색하고 </a:t>
            </a:r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평가하는 </a:t>
            </a:r>
          </a:p>
          <a:p>
            <a:r>
              <a:rPr lang="en-US" sz="1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트리 구조의 프레임워크</a:t>
            </a:r>
          </a:p>
          <a:p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 복잡한 </a:t>
            </a: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해결과 전략적 사고가 필요한 </a:t>
            </a:r>
            <a:r>
              <a:rPr lang="en-US" sz="100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작업에 유용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76504" y="3909060"/>
            <a:ext cx="4634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요청: 동일한 문제에 대해 여러 번 다른 접근 방식으로 해결하도록 요청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676504" y="4153205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수집: 각 접근 방식에서 나온 답변을 수집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76504" y="4396435"/>
            <a:ext cx="4558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선택: 가장 많이 나온 답변이나 가장 일관된 추론 과정을 가진 답변 선택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94944" y="5354422"/>
            <a:ext cx="4972507" cy="1162202"/>
          </a:xfrm>
          <a:prstGeom prst="rect">
            <a:avLst/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694944" y="5354422"/>
            <a:ext cx="28346" cy="1162202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838505" y="545957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프롬프트: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28446" y="5608167"/>
            <a:ext cx="47868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 문제를 세 가지 다른 방법으로 해결해보세요: 어떤 수에 5를 더한 다음 3을 곱하면 42가 됩니다. 원래 수는 무엇인가요?"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838505" y="6019190"/>
            <a:ext cx="46725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프롬프트를 통해 AI는 대수적 방법, 역산, 직관적 접근 등 다양한 방법으로 문제를 해결하고, 가장 일관된 답변(9)을 제시하게 됩니다.</a:t>
            </a:r>
            <a:endParaRPr lang="en-US" sz="1000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6524244" y="1746504"/>
            <a:ext cx="304495" cy="267005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6564477" y="5469357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프롬프트: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6585813" y="5703722"/>
            <a:ext cx="47676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"체스 게임에서 다음 세 가지 가능한 수를 고려해봅시다: 1) 퀸을 e4로 이동, 2) 나이트를 c3으로 이동, 3) 킹사이드 캐슬링. 각 수를 두었을 때 발생할 수 있는 다음 3가지 상황을 분석하고, 어떤 수가 더 좋은지 평가해주세요."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6534379" y="3909060"/>
            <a:ext cx="3014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탐색: 여러 가능한 사고 경로를 동시에 탐색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6534379" y="4153205"/>
            <a:ext cx="3014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평가: 각 경로의 중간 단계에서 유망한 경로 평가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6534379" y="4396435"/>
            <a:ext cx="4072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선택적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발전: 유망하지 않은 경로는 조기에 포기하고 더 나은 경로에 집중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6534379" y="4640580"/>
            <a:ext cx="3633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광범위한 </a:t>
            </a: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적용: 체스나 퍼즐과 같이 선택지가 많은 문제에 효과적</a:t>
            </a:r>
            <a:endParaRPr lang="en-US" sz="1000" dirty="0"/>
          </a:p>
        </p:txBody>
      </p:sp>
      <p:sp>
        <p:nvSpPr>
          <p:cNvPr id="55" name="Shape 36">
            <a:extLst>
              <a:ext uri="{FF2B5EF4-FFF2-40B4-BE49-F238E27FC236}">
                <a16:creationId xmlns:a16="http://schemas.microsoft.com/office/drawing/2014/main" id="{B7B6B26B-5B5A-E303-0955-423874EED81D}"/>
              </a:ext>
            </a:extLst>
          </p:cNvPr>
          <p:cNvSpPr/>
          <p:nvPr/>
        </p:nvSpPr>
        <p:spPr>
          <a:xfrm>
            <a:off x="6488532" y="5354422"/>
            <a:ext cx="4972507" cy="1162202"/>
          </a:xfrm>
          <a:prstGeom prst="rect">
            <a:avLst/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37">
            <a:extLst>
              <a:ext uri="{FF2B5EF4-FFF2-40B4-BE49-F238E27FC236}">
                <a16:creationId xmlns:a16="http://schemas.microsoft.com/office/drawing/2014/main" id="{88B45AD2-A484-2F9C-FFD7-3CFE5D0DF89A}"/>
              </a:ext>
            </a:extLst>
          </p:cNvPr>
          <p:cNvSpPr/>
          <p:nvPr/>
        </p:nvSpPr>
        <p:spPr>
          <a:xfrm>
            <a:off x="6488532" y="5354422"/>
            <a:ext cx="28346" cy="1162202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15672BE2-C495-1BB8-3D58-E624AACE59A6}"/>
              </a:ext>
            </a:extLst>
          </p:cNvPr>
          <p:cNvSpPr txBox="1"/>
          <p:nvPr/>
        </p:nvSpPr>
        <p:spPr>
          <a:xfrm>
            <a:off x="571500" y="190195"/>
            <a:ext cx="102235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프롬프</a:t>
            </a:r>
            <a:r>
              <a:rPr lang="ko-KR" alt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팅</a:t>
            </a:r>
            <a:r>
              <a:rPr 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ko-KR" alt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일관성 기법 </a:t>
            </a:r>
            <a:r>
              <a:rPr lang="en-US" altLang="ko-KR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&amp;ToT </a:t>
            </a:r>
            <a:r>
              <a:rPr lang="ko-KR" altLang="en-US" sz="40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505102"/>
          </a:xfrm>
          <a:prstGeom prst="rect">
            <a:avLst/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37744"/>
            <a:ext cx="7899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프롬프팅 </a:t>
            </a:r>
            <a:r>
              <a:rPr lang="en-US" altLang="ko-KR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36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</a:t>
            </a: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증강 생성 (RAG)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90295"/>
            <a:ext cx="3676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지식을 활용한 고품질 AI 응답 생성 기법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32102"/>
            <a:ext cx="11277295" cy="1712875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32102"/>
            <a:ext cx="47549" cy="1713600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3463544"/>
            <a:ext cx="11277295" cy="3276295"/>
          </a:xfrm>
          <a:prstGeom prst="roundRect">
            <a:avLst>
              <a:gd name="adj" fmla="val 64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3463544"/>
            <a:ext cx="47549" cy="3276295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989999" r="-989999"/>
          <a:stretch/>
        </p:blipFill>
        <p:spPr>
          <a:xfrm>
            <a:off x="363952" y="2046326"/>
            <a:ext cx="142646" cy="914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33349" y="36921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8D3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40685" y="1893621"/>
            <a:ext cx="56007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</a:t>
            </a:r>
            <a:r>
              <a:rPr lang="en-US" altLang="ko-KR" sz="16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(Retrieval-Augmented Generation) </a:t>
            </a:r>
            <a:r>
              <a:rPr lang="en-US" sz="1600" b="1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란?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28954" y="3725977"/>
            <a:ext cx="26910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RAG의 작동 원리와 프로세스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33349" y="2403856"/>
            <a:ext cx="108018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cs typeface="Noto Sans KR" pitchFamily="34" charset="-120"/>
              </a:rPr>
              <a:t>ㆍ</a:t>
            </a: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 </a:t>
            </a: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응답을 외부 지식이나 데이터베이스의 정보로 </a:t>
            </a: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보강하는 기법</a:t>
            </a:r>
          </a:p>
          <a:p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방법은 AI의 내재적 한계(지식 단절, 할루시네이션 등)를 극복하기 위해 개발되었으며, 특히 최신 정보나 특정 도메인 지식이 필요한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작업에 효과적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3349" y="3032049"/>
            <a:ext cx="847649" cy="209398"/>
          </a:xfrm>
          <a:prstGeom prst="roundRect">
            <a:avLst>
              <a:gd name="adj" fmla="val 238189"/>
            </a:avLst>
          </a:prstGeom>
          <a:solidFill>
            <a:srgbClr val="3B4D5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1637690" y="3032049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3B4D5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300630" y="3032049"/>
            <a:ext cx="1028700" cy="209398"/>
          </a:xfrm>
          <a:prstGeom prst="roundRect">
            <a:avLst>
              <a:gd name="adj" fmla="val 238189"/>
            </a:avLst>
          </a:prstGeom>
          <a:solidFill>
            <a:srgbClr val="3B4D5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3383280" y="3032049"/>
            <a:ext cx="961949" cy="209398"/>
          </a:xfrm>
          <a:prstGeom prst="roundRect">
            <a:avLst>
              <a:gd name="adj" fmla="val 238189"/>
            </a:avLst>
          </a:prstGeom>
          <a:solidFill>
            <a:srgbClr val="3B4D5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392778" y="3032049"/>
            <a:ext cx="857707" cy="209398"/>
          </a:xfrm>
          <a:prstGeom prst="roundRect">
            <a:avLst>
              <a:gd name="adj" fmla="val 238189"/>
            </a:avLst>
          </a:prstGeom>
          <a:solidFill>
            <a:srgbClr val="3B4D5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304434" y="3032049"/>
            <a:ext cx="1200607" cy="209398"/>
          </a:xfrm>
          <a:prstGeom prst="roundRect">
            <a:avLst>
              <a:gd name="adj" fmla="val 238189"/>
            </a:avLst>
          </a:prstGeom>
          <a:solidFill>
            <a:srgbClr val="3B4D5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09244" y="3051251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정보 접근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714500" y="3051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확인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376526" y="3051251"/>
            <a:ext cx="962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 감소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459175" y="3051251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특화 지식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4469587" y="3051251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성능 향상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380330" y="3051251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이후 정보</a:t>
            </a:r>
            <a:endParaRPr lang="en-US" sz="9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 l="-989999" r="-989999"/>
          <a:stretch/>
        </p:blipFill>
        <p:spPr>
          <a:xfrm>
            <a:off x="804672" y="3878682"/>
            <a:ext cx="237744" cy="9144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847649" y="4162654"/>
            <a:ext cx="267005" cy="267005"/>
          </a:xfrm>
          <a:prstGeom prst="ellipse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847649" y="4911954"/>
            <a:ext cx="267005" cy="267005"/>
          </a:xfrm>
          <a:prstGeom prst="ellipse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847649" y="5673649"/>
            <a:ext cx="267005" cy="267005"/>
          </a:xfrm>
          <a:prstGeom prst="ellipse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8"/>
          <p:cNvSpPr/>
          <p:nvPr/>
        </p:nvSpPr>
        <p:spPr>
          <a:xfrm>
            <a:off x="6448349" y="4143451"/>
            <a:ext cx="267005" cy="267005"/>
          </a:xfrm>
          <a:prstGeom prst="ellipse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9"/>
          <p:cNvSpPr txBox="1"/>
          <p:nvPr/>
        </p:nvSpPr>
        <p:spPr>
          <a:xfrm>
            <a:off x="936346" y="4181856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936346" y="4931156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936346" y="5692851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6537046" y="4162653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1228954" y="416265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 분석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1228954" y="4911954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정보 검색</a:t>
            </a:r>
            <a:endParaRPr lang="en-US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1228954" y="56736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통합 및 구조화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6829654" y="4143451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4D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생성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1228954" y="4375404"/>
            <a:ext cx="4705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입력된 질문의 핵심 키워드와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의도를 파악.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기법을 사용하여 질문을 벡터 형태로 변환하고, 검색에 최적화된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형태로 가공.</a:t>
            </a:r>
            <a:endParaRPr lang="en-US" sz="1200" dirty="0"/>
          </a:p>
        </p:txBody>
      </p:sp>
      <p:sp>
        <p:nvSpPr>
          <p:cNvPr id="52" name="Text 48"/>
          <p:cNvSpPr txBox="1"/>
          <p:nvPr/>
        </p:nvSpPr>
        <p:spPr>
          <a:xfrm>
            <a:off x="1228954" y="5124704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데이터베이스, 문서, API, 지식 베이스 등에서 벡터 유사성을 기반으로 질문과 관련된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정보를 검색.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시맨틱 검색을 통해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맥락적 유사성 </a:t>
            </a:r>
            <a:r>
              <a:rPr lang="ko-KR" alt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53" name="Text 49"/>
          <p:cNvSpPr txBox="1"/>
          <p:nvPr/>
        </p:nvSpPr>
        <p:spPr>
          <a:xfrm>
            <a:off x="1228954" y="5887314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검색된 정보를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프롬프트에 통합.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관련성에 따라 정보의 우선순위를 정하고, LLM이 처리하기 적합한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형태로 구조화.</a:t>
            </a:r>
            <a:endParaRPr lang="en-US" sz="1200" dirty="0"/>
          </a:p>
        </p:txBody>
      </p:sp>
      <p:sp>
        <p:nvSpPr>
          <p:cNvPr id="54" name="Text 50"/>
          <p:cNvSpPr txBox="1"/>
          <p:nvPr/>
        </p:nvSpPr>
        <p:spPr>
          <a:xfrm>
            <a:off x="6829654" y="4357116"/>
            <a:ext cx="4705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통합된 정보를 바탕으로 정확하고 최신의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응답을 생성. 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검색된 정보를 인용하고 참조하여 신뢰성 있는 </a:t>
            </a: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답변을 제공.</a:t>
            </a:r>
            <a:endParaRPr lang="en-US" sz="1200" dirty="0"/>
          </a:p>
        </p:txBody>
      </p:sp>
      <p:sp>
        <p:nvSpPr>
          <p:cNvPr id="89" name="Shape 70">
            <a:extLst>
              <a:ext uri="{FF2B5EF4-FFF2-40B4-BE49-F238E27FC236}">
                <a16:creationId xmlns:a16="http://schemas.microsoft.com/office/drawing/2014/main" id="{79D6405A-1F71-FD9F-42AC-6D13C20C109D}"/>
              </a:ext>
            </a:extLst>
          </p:cNvPr>
          <p:cNvSpPr/>
          <p:nvPr/>
        </p:nvSpPr>
        <p:spPr>
          <a:xfrm>
            <a:off x="6486754" y="5020056"/>
            <a:ext cx="5020056" cy="1371600"/>
          </a:xfrm>
          <a:prstGeom prst="roundRect">
            <a:avLst>
              <a:gd name="adj" fmla="val 2778"/>
            </a:avLst>
          </a:prstGeom>
          <a:solidFill>
            <a:srgbClr val="3B4D5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71">
            <a:extLst>
              <a:ext uri="{FF2B5EF4-FFF2-40B4-BE49-F238E27FC236}">
                <a16:creationId xmlns:a16="http://schemas.microsoft.com/office/drawing/2014/main" id="{C6DE362B-664F-F584-5C08-BB0DAB5E6150}"/>
              </a:ext>
            </a:extLst>
          </p:cNvPr>
          <p:cNvSpPr/>
          <p:nvPr/>
        </p:nvSpPr>
        <p:spPr>
          <a:xfrm>
            <a:off x="6486754" y="5020056"/>
            <a:ext cx="28346" cy="1371600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72">
            <a:extLst>
              <a:ext uri="{FF2B5EF4-FFF2-40B4-BE49-F238E27FC236}">
                <a16:creationId xmlns:a16="http://schemas.microsoft.com/office/drawing/2014/main" id="{8EFDDA45-0A3B-4871-CAC8-A880F9F47F3E}"/>
              </a:ext>
            </a:extLst>
          </p:cNvPr>
          <p:cNvSpPr txBox="1"/>
          <p:nvPr/>
        </p:nvSpPr>
        <p:spPr>
          <a:xfrm>
            <a:off x="6667805" y="517184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프롬프팅 예시</a:t>
            </a:r>
            <a:endParaRPr lang="en-US" sz="1200" dirty="0"/>
          </a:p>
        </p:txBody>
      </p:sp>
      <p:sp>
        <p:nvSpPr>
          <p:cNvPr id="92" name="Text 73">
            <a:extLst>
              <a:ext uri="{FF2B5EF4-FFF2-40B4-BE49-F238E27FC236}">
                <a16:creationId xmlns:a16="http://schemas.microsoft.com/office/drawing/2014/main" id="{D04F71F3-1EAD-884E-CAF3-15773C83FDBD}"/>
              </a:ext>
            </a:extLst>
          </p:cNvPr>
          <p:cNvSpPr txBox="1"/>
          <p:nvPr/>
        </p:nvSpPr>
        <p:spPr>
          <a:xfrm>
            <a:off x="6667805" y="5477256"/>
            <a:ext cx="47868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 기업 문서를 참고하여 2023년 4분기 마케팅 전략의 주요 성과와 향후 계획을 요약해주세요. 특히 디지털 채널 성과를 강조하고, 예산 대비 효율성을 분석해주세요.</a:t>
            </a:r>
            <a:endParaRPr lang="en-US" sz="1000" dirty="0"/>
          </a:p>
        </p:txBody>
      </p:sp>
      <p:sp>
        <p:nvSpPr>
          <p:cNvPr id="93" name="Text 74">
            <a:extLst>
              <a:ext uri="{FF2B5EF4-FFF2-40B4-BE49-F238E27FC236}">
                <a16:creationId xmlns:a16="http://schemas.microsoft.com/office/drawing/2014/main" id="{2AB02CE2-907E-D341-415E-6A610874C239}"/>
              </a:ext>
            </a:extLst>
          </p:cNvPr>
          <p:cNvSpPr txBox="1"/>
          <p:nvPr/>
        </p:nvSpPr>
        <p:spPr>
          <a:xfrm>
            <a:off x="6667805" y="6048756"/>
            <a:ext cx="2852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 내용: 2023_Q4_마케팅_성과_보고서.pdf]"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437998"/>
            <a:ext cx="2829154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33195"/>
            <a:ext cx="2248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엔지니어링 효과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00707"/>
            <a:ext cx="1143000" cy="28346"/>
          </a:xfrm>
          <a:prstGeom prst="rect">
            <a:avLst/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257800" y="4187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B9B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74282" y="4187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B4D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35824" y="4187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E8D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47995" y="381305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프롬프트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64478" y="381305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최적화된 프롬프트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926019" y="38130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기법 적용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5257800" y="647395"/>
            <a:ext cx="6553505" cy="28575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48A54936-AB21-3837-757C-4F365B3C1061}"/>
              </a:ext>
            </a:extLst>
          </p:cNvPr>
          <p:cNvGrpSpPr/>
          <p:nvPr/>
        </p:nvGrpSpPr>
        <p:grpSpPr>
          <a:xfrm>
            <a:off x="5257800" y="3886200"/>
            <a:ext cx="6625742" cy="571500"/>
            <a:chOff x="5257800" y="3886200"/>
            <a:chExt cx="6625742" cy="571500"/>
          </a:xfrm>
        </p:grpSpPr>
        <p:sp>
          <p:nvSpPr>
            <p:cNvPr id="16" name="Shape 13"/>
            <p:cNvSpPr/>
            <p:nvPr/>
          </p:nvSpPr>
          <p:spPr>
            <a:xfrm>
              <a:off x="5257800" y="3886200"/>
              <a:ext cx="476402" cy="476402"/>
            </a:xfrm>
            <a:prstGeom prst="ellipse">
              <a:avLst/>
            </a:prstGeom>
            <a:solidFill>
              <a:srgbClr val="3B4D5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419649" y="4048049"/>
              <a:ext cx="152705" cy="152705"/>
            </a:xfrm>
            <a:prstGeom prst="rect">
              <a:avLst/>
            </a:prstGeom>
          </p:spPr>
        </p:pic>
        <p:sp>
          <p:nvSpPr>
            <p:cNvPr id="18" name="Text 14"/>
            <p:cNvSpPr txBox="1"/>
            <p:nvPr/>
          </p:nvSpPr>
          <p:spPr>
            <a:xfrm>
              <a:off x="5886907" y="3886200"/>
              <a:ext cx="5996635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200" b="1">
                  <a:solidFill>
                    <a:srgbClr val="333333"/>
                  </a:solidFill>
                  <a:latin typeface="맑은 고딕" panose="020B0503020000020004" pitchFamily="50" charset="-127"/>
                  <a:cs typeface="Noto Sans KR" pitchFamily="34" charset="-120"/>
                </a:rPr>
                <a:t>ㆍ</a:t>
              </a:r>
              <a:r>
                <a:rPr lang="en-US" sz="1200" b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응답 품질 향상 </a:t>
              </a:r>
            </a:p>
            <a:p>
              <a:pPr marL="0" indent="0" algn="l">
                <a:buNone/>
              </a:pP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- 명확하고 </a:t>
              </a:r>
              <a:r>
                <a:rPr lang="en-US" sz="12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구조화된 프롬프트를 사용할 경우, AI 응답의 정확도가 최대 78% 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증가하며 관련성</a:t>
              </a:r>
            </a:p>
            <a:p>
              <a:pPr marL="0" indent="0" algn="l">
                <a:buNone/>
              </a:pP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  높은 </a:t>
              </a:r>
              <a:r>
                <a:rPr lang="en-US" sz="12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내용을 제공받을 확률이 3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배 </a:t>
              </a:r>
              <a:r>
                <a:rPr lang="ko-KR" alt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이상 상승</a:t>
              </a:r>
              <a:endParaRPr lang="en-US" sz="12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0107532-FAB8-E80A-D4D3-D07EB964540F}"/>
              </a:ext>
            </a:extLst>
          </p:cNvPr>
          <p:cNvGrpSpPr/>
          <p:nvPr/>
        </p:nvGrpSpPr>
        <p:grpSpPr>
          <a:xfrm>
            <a:off x="5257800" y="4848378"/>
            <a:ext cx="6597396" cy="571500"/>
            <a:chOff x="5257800" y="4565802"/>
            <a:chExt cx="6597396" cy="571500"/>
          </a:xfrm>
        </p:grpSpPr>
        <p:sp>
          <p:nvSpPr>
            <p:cNvPr id="19" name="Text 15"/>
            <p:cNvSpPr txBox="1"/>
            <p:nvPr/>
          </p:nvSpPr>
          <p:spPr>
            <a:xfrm>
              <a:off x="5886907" y="4565802"/>
              <a:ext cx="5968289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200" b="1">
                  <a:solidFill>
                    <a:srgbClr val="333333"/>
                  </a:solidFill>
                  <a:latin typeface="맑은 고딕" panose="020B0503020000020004" pitchFamily="50" charset="-127"/>
                  <a:cs typeface="Noto Sans KR" pitchFamily="34" charset="-120"/>
                </a:rPr>
                <a:t>ㆍ</a:t>
              </a:r>
              <a:r>
                <a:rPr lang="en-US" sz="1200" b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업무 효율성 </a:t>
              </a:r>
              <a:r>
                <a:rPr lang="ko-KR" altLang="en-US" sz="1200" b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확보</a:t>
              </a:r>
              <a:endParaRPr lang="en-US" sz="12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- 고급 프롬프트 기법 활용 </a:t>
              </a:r>
              <a:r>
                <a:rPr lang="ko-KR" alt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반복적인 수정 요청이 65% 감소하고, 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원하는 결과 </a:t>
              </a:r>
              <a:r>
                <a:rPr lang="ko-KR" alt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도출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까지</a:t>
              </a:r>
            </a:p>
            <a:p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   시간 </a:t>
              </a:r>
              <a:r>
                <a:rPr lang="en-US" sz="12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평균 4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배 단축</a:t>
              </a:r>
              <a:endParaRPr lang="en-US" sz="12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5257800" y="4591202"/>
              <a:ext cx="476402" cy="476402"/>
            </a:xfrm>
            <a:prstGeom prst="ellipse">
              <a:avLst/>
            </a:prstGeom>
            <a:solidFill>
              <a:srgbClr val="B9BAB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419649" y="4753051"/>
              <a:ext cx="152705" cy="15270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FBB713F-E611-1669-BC98-263DA6B312CD}"/>
              </a:ext>
            </a:extLst>
          </p:cNvPr>
          <p:cNvGrpSpPr/>
          <p:nvPr/>
        </p:nvGrpSpPr>
        <p:grpSpPr>
          <a:xfrm>
            <a:off x="5257800" y="5810555"/>
            <a:ext cx="6606540" cy="571500"/>
            <a:chOff x="5257800" y="5258105"/>
            <a:chExt cx="6606540" cy="571500"/>
          </a:xfrm>
        </p:grpSpPr>
        <p:sp>
          <p:nvSpPr>
            <p:cNvPr id="22" name="Text 17"/>
            <p:cNvSpPr txBox="1"/>
            <p:nvPr/>
          </p:nvSpPr>
          <p:spPr>
            <a:xfrm>
              <a:off x="5886907" y="5258105"/>
              <a:ext cx="5977433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200" b="1">
                  <a:solidFill>
                    <a:srgbClr val="333333"/>
                  </a:solidFill>
                  <a:latin typeface="맑은 고딕" panose="020B0503020000020004" pitchFamily="50" charset="-127"/>
                  <a:cs typeface="Noto Sans KR" pitchFamily="34" charset="-120"/>
                </a:rPr>
                <a:t>ㆍ</a:t>
              </a:r>
              <a:r>
                <a:rPr lang="en-US" sz="1200" b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복잡한 문제 해결력</a:t>
              </a:r>
            </a:p>
            <a:p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- Chain-of-Thought</a:t>
              </a:r>
              <a:r>
                <a:rPr lang="en-US" sz="12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와 같은 고급 기법 적용 시, 복잡한 추론이 필요한 작업에서 AI의 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 </a:t>
              </a:r>
            </a:p>
            <a:p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  해결 능력이 </a:t>
              </a:r>
              <a:r>
                <a:rPr lang="en-US" sz="12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기본 프롬프트 대비 최대 85</a:t>
              </a:r>
              <a:r>
                <a:rPr lang="en-US" sz="120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% 향상</a:t>
              </a:r>
              <a:endParaRPr lang="en-US" sz="1200" dirty="0"/>
            </a:p>
          </p:txBody>
        </p:sp>
        <p:sp>
          <p:nvSpPr>
            <p:cNvPr id="23" name="Shape 18"/>
            <p:cNvSpPr/>
            <p:nvPr/>
          </p:nvSpPr>
          <p:spPr>
            <a:xfrm>
              <a:off x="5257800" y="5296205"/>
              <a:ext cx="476402" cy="476402"/>
            </a:xfrm>
            <a:prstGeom prst="ellipse">
              <a:avLst/>
            </a:prstGeom>
            <a:solidFill>
              <a:srgbClr val="FE8D3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5419649" y="5458054"/>
              <a:ext cx="152705" cy="1527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1615</Words>
  <Application>Microsoft Office PowerPoint</Application>
  <PresentationFormat>와이드스크린</PresentationFormat>
  <Paragraphs>217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진 덕만</cp:lastModifiedBy>
  <cp:revision>7</cp:revision>
  <dcterms:created xsi:type="dcterms:W3CDTF">2025-10-16T08:10:08Z</dcterms:created>
  <dcterms:modified xsi:type="dcterms:W3CDTF">2025-10-24T08:32:30Z</dcterms:modified>
</cp:coreProperties>
</file>